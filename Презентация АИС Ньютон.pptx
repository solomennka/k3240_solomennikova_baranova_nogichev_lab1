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2c2dae3e84683" /><Relationship Type="http://schemas.openxmlformats.org/officeDocument/2006/relationships/extended-properties" Target="/docProps/app.xml" Id="R431d4fa0c72d4dd0" /><Relationship Type="http://schemas.openxmlformats.org/officeDocument/2006/relationships/officeDocument" Target="/ppt/presentation.xml" Id="R15841f4cfd7b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78af044cb4d52"/>
  </p:sldMasterIdLst>
  <p:notesMasterIdLst>
    <p:notesMasterId xmlns:r="http://schemas.openxmlformats.org/officeDocument/2006/relationships" r:id="R3fd7d35a6e4a4999"/>
  </p:notesMasterIdLst>
  <p:sldIdLst>
    <p:sldId xmlns:r="http://schemas.openxmlformats.org/officeDocument/2006/relationships" id="256" r:id="R49025425f038458d"/>
    <p:sldId xmlns:r="http://schemas.openxmlformats.org/officeDocument/2006/relationships" id="257" r:id="R2220e3d9153f4d90"/>
    <p:sldId xmlns:r="http://schemas.openxmlformats.org/officeDocument/2006/relationships" id="258" r:id="R1795f90d58b9475d"/>
    <p:sldId xmlns:r="http://schemas.openxmlformats.org/officeDocument/2006/relationships" id="259" r:id="Rc6b04e3826e4467c"/>
    <p:sldId xmlns:r="http://schemas.openxmlformats.org/officeDocument/2006/relationships" id="260" r:id="R2456fae67e9c4ce4"/>
    <p:sldId xmlns:r="http://schemas.openxmlformats.org/officeDocument/2006/relationships" id="261" r:id="Rec05e22fec2444d5"/>
    <p:sldId xmlns:r="http://schemas.openxmlformats.org/officeDocument/2006/relationships" id="262" r:id="Rb946557d68a74a68"/>
    <p:sldId xmlns:r="http://schemas.openxmlformats.org/officeDocument/2006/relationships" id="263" r:id="Rd459f6a85a424652"/>
    <p:sldId xmlns:r="http://schemas.openxmlformats.org/officeDocument/2006/relationships" id="264" r:id="R648d2a1d0f4b4d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0844edd20f414f" /><Relationship Type="http://schemas.openxmlformats.org/officeDocument/2006/relationships/slideMaster" Target="/ppt/slideMasters/slideMaster1.xml" Id="R59f78af044cb4d52" /><Relationship Type="http://schemas.openxmlformats.org/officeDocument/2006/relationships/notesMaster" Target="/ppt/notesMasters/notesMaster1.xml" Id="R3fd7d35a6e4a4999" /><Relationship Type="http://schemas.openxmlformats.org/officeDocument/2006/relationships/presProps" Target="/ppt/presProps.xml" Id="R095c87fcd9ef477b" /><Relationship Type="http://schemas.openxmlformats.org/officeDocument/2006/relationships/tableStyles" Target="/ppt/tableStyles.xml" Id="Rb175be6c64104e52" /><Relationship Type="http://schemas.openxmlformats.org/officeDocument/2006/relationships/slide" Target="/ppt/slides/slide1.xml" Id="R49025425f038458d" /><Relationship Type="http://schemas.openxmlformats.org/officeDocument/2006/relationships/slide" Target="/ppt/slides/slide2.xml" Id="R2220e3d9153f4d90" /><Relationship Type="http://schemas.openxmlformats.org/officeDocument/2006/relationships/slide" Target="/ppt/slides/slide3.xml" Id="R1795f90d58b9475d" /><Relationship Type="http://schemas.openxmlformats.org/officeDocument/2006/relationships/slide" Target="/ppt/slides/slide4.xml" Id="Rc6b04e3826e4467c" /><Relationship Type="http://schemas.openxmlformats.org/officeDocument/2006/relationships/slide" Target="/ppt/slides/slide5.xml" Id="R2456fae67e9c4ce4" /><Relationship Type="http://schemas.openxmlformats.org/officeDocument/2006/relationships/slide" Target="/ppt/slides/slide6.xml" Id="Rec05e22fec2444d5" /><Relationship Type="http://schemas.openxmlformats.org/officeDocument/2006/relationships/slide" Target="/ppt/slides/slide7.xml" Id="Rb946557d68a74a68" /><Relationship Type="http://schemas.openxmlformats.org/officeDocument/2006/relationships/slide" Target="/ppt/slides/slide8.xml" Id="Rd459f6a85a424652" /><Relationship Type="http://schemas.openxmlformats.org/officeDocument/2006/relationships/slide" Target="/ppt/slides/slide9.xml" Id="R648d2a1d0f4b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e3546858a48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d1802ab934ded" /><Relationship Type="http://schemas.openxmlformats.org/officeDocument/2006/relationships/notesMaster" Target="/ppt/notesMasters/notesMaster1.xml" Id="Rc8de9e73ea83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f6a179ac843c2" /><Relationship Type="http://schemas.openxmlformats.org/officeDocument/2006/relationships/notesMaster" Target="/ppt/notesMasters/notesMaster1.xml" Id="R180b0f3451ab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14949a3554a3a" /><Relationship Type="http://schemas.openxmlformats.org/officeDocument/2006/relationships/notesMaster" Target="/ppt/notesMasters/notesMaster1.xml" Id="R39d300b203e74c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d8f04f5dfc4e30" /><Relationship Type="http://schemas.openxmlformats.org/officeDocument/2006/relationships/notesMaster" Target="/ppt/notesMasters/notesMaster1.xml" Id="R242531eb873642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a64a9b91f54d2c" /><Relationship Type="http://schemas.openxmlformats.org/officeDocument/2006/relationships/notesMaster" Target="/ppt/notesMasters/notesMaster1.xml" Id="R4662fbc65637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33793346444f5" /><Relationship Type="http://schemas.openxmlformats.org/officeDocument/2006/relationships/notesMaster" Target="/ppt/notesMasters/notesMaster1.xml" Id="R82e624bca49346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6b7c32f7b4c03" /><Relationship Type="http://schemas.openxmlformats.org/officeDocument/2006/relationships/notesMaster" Target="/ppt/notesMasters/notesMaster1.xml" Id="R6fa62b50886c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ebb70514b41ad" /><Relationship Type="http://schemas.openxmlformats.org/officeDocument/2006/relationships/notesMaster" Target="/ppt/notesMasters/notesMaster1.xml" Id="R03ca2910465f45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d0187232d42c8" /><Relationship Type="http://schemas.openxmlformats.org/officeDocument/2006/relationships/notesMaster" Target="/ppt/notesMasters/notesMaster1.xml" Id="R98bd2b3b8d7745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Тема: проектирование функциональной модели автоматизированной информационной системы рекламного агентства «Ньютон». Авторы, группа и преподаватель указаны по данным пользователя. Источники: текст пользователя; «ЛР 1 Анализ поведения системы.docx»; «Диаграммы потоков данных.docx». Официальный логотип ИТМО: https://itmo.ru/file/pages/213/logo_osnovnoy_russkiy_belyy.png . Страница логотипов и фирменного стиля: https://itmo.ru/ru/page/213/logotipy_i_firmennyy_stil.htm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предметной области: «ЛР 1 Анализ поведения системы.docx», вариант 4. Условие предоплаты не менее 30% сохранено по явному тексту пользователя. В исходном описании также встречается схема оплаты 50% / 50%.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 АИС: хранение информации о заказах и макетах, поддержка обработки заказов, изготовления рекламы, закупок, отгрузки и мониторинга выполнения. Задачи приведены по тексту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«Диаграммы потоков данных.docx». Процессы преобразуют данные, потоки показывают передачу информации, накопители хранят данные, внешние сущности взаимодействуют с системой. Для построения диаграмм использовали Miro, согласно уточнению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процесс: организовать выполнение заказов. Входы и выходы в правом столбце указаны относительно каждой внешней сущности. Макетчик получает требования по макету и передаёт в АИС макет. Клиент также передаёт подтверждение готового макета. Макетчик получает исходные требования и список правок. Источник рисунка: предоставленное пользователем изображение контекстной диаграммы A-0.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рисунка: предоставленное пользователем изображение A0 «Организовать выполнение заказов». Шесть процессов: A1 обработать заказ; A2 разработать макет; A3 обеспечить изготовление; A4 обеспечить закупки материалов; A5 отгрузить клиенту; A6 мониторить выполнение. Накопители D1–D5 перечислены на слайде. Повторные изображения D1, D2 и D5 на исходной схеме обозначают те же накопители. При необходимости мелкие подписи можно увеличить в режиме редактирования или просмотра.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рисунка: предоставленное пользователем изображение детализации A2. Основная связь: D1 «Заказы» → A2.1 → A2.2 ↔ A2.3 → A2.4 → D3 «Макеты». По тексту пользователя: A2.1 ↔ Макетчик ↔ A2.2; A2.1 ↔ Клиент → A2.3. Возражения клиента вызывают возврат к предварительному макетированию. Готовый макет утверждается после согласования и подтверждения клиента.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Выводы приведены по тексту пользователя и относятся к представленной модели АИС «Ньютон».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33babe99a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9a41dc43214665" /><Relationship Type="http://schemas.openxmlformats.org/officeDocument/2006/relationships/slideLayout" Target="/ppt/slideLayouts/slideLayout1.xml" Id="Ra12f53df0ba5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f53df0ba5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721e6a3ee42e0" /><Relationship Type="http://schemas.openxmlformats.org/officeDocument/2006/relationships/image" Target="/ppt/media/image.png" Id="R5d51e4a133d54979" /><Relationship Type="http://schemas.openxmlformats.org/officeDocument/2006/relationships/notesSlide" Target="/ppt/notesSlides/notesSlide1.xml" Id="Rf531e03236cf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2fcca5e174de3" /><Relationship Type="http://schemas.openxmlformats.org/officeDocument/2006/relationships/notesSlide" Target="/ppt/notesSlides/notesSlide2.xml" Id="Reaef1d1f7f02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1a3b7cb914939" /><Relationship Type="http://schemas.openxmlformats.org/officeDocument/2006/relationships/notesSlide" Target="/ppt/notesSlides/notesSlide3.xml" Id="R3094ed9924474b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06a361454bbd" /><Relationship Type="http://schemas.openxmlformats.org/officeDocument/2006/relationships/notesSlide" Target="/ppt/notesSlides/notesSlide4.xml" Id="R04cfc256daae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7e6b50ff43fa" /><Relationship Type="http://schemas.openxmlformats.org/officeDocument/2006/relationships/image" Target="/ppt/media/image2.png" Id="Re99f6ef8866a4c4f" /><Relationship Type="http://schemas.openxmlformats.org/officeDocument/2006/relationships/notesSlide" Target="/ppt/notesSlides/notesSlide5.xml" Id="R2af8e096a696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21c23123742c9" /><Relationship Type="http://schemas.openxmlformats.org/officeDocument/2006/relationships/image" Target="/ppt/media/image3.png" Id="R74acd4339b764387" /><Relationship Type="http://schemas.openxmlformats.org/officeDocument/2006/relationships/notesSlide" Target="/ppt/notesSlides/notesSlide6.xml" Id="R69966d79e7e342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99ab218842a7" /><Relationship Type="http://schemas.openxmlformats.org/officeDocument/2006/relationships/image" Target="/ppt/media/image4.png" Id="R4b115aa694d64f95" /><Relationship Type="http://schemas.openxmlformats.org/officeDocument/2006/relationships/notesSlide" Target="/ppt/notesSlides/notesSlide7.xml" Id="R09ceb26a015148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395a870549bc" /><Relationship Type="http://schemas.openxmlformats.org/officeDocument/2006/relationships/notesSlide" Target="/ppt/notesSlides/notesSlide8.xml" Id="R402f2bcbc282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af63e253e49c5" /><Relationship Type="http://schemas.openxmlformats.org/officeDocument/2006/relationships/notesSlide" Target="/ppt/notesSlides/notesSlide9.xml" Id="R6d7413bafffe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1e4a133d54979"/>
          <a:stretch xmlns:a="http://schemas.openxmlformats.org/drawingml/2006/main"/>
        </p:blipFill>
        <p:spPr>
          <a:xfrm xmlns:a="http://schemas.openxmlformats.org/drawingml/2006/main">
            <a:off x="857250" y="546131"/>
            <a:ext cx="2762250" cy="1088964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C76D0A-E8FF-4334-BB1A-274578C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BE5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BE5F7"/>
                </a:solidFill>
                <a:latin typeface="Arial"/>
                <a:ea typeface="Arial"/>
                <a:cs typeface="Arial"/>
              </a:rPr>
              <a:t>Лабораторная работа №1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749FE9-EADE-47E1-A0CC-1A7E6A6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352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Проектирование функциональной модели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АИС «Ньютон»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4F43DC-8974-45A1-8F68-781BF258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781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BE5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BE5F7"/>
                </a:solidFill>
                <a:latin typeface="Arial"/>
                <a:ea typeface="Arial"/>
                <a:cs typeface="Arial"/>
              </a:rPr>
              <a:t>Авторы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EE2CAA8-3CBA-466C-90A8-F820FE2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7810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Баранова Алина Алексеевна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Соломенникова Елизавета Андреевна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Ногичев Матвей Ильич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D790A7-48CB-437B-B465-3F92F5E8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72325"/>
            <a:ext cx="781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Группа К3239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6331233-7320-494E-9C3C-C878F33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BE5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BE5F7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603B32-8FB8-49A2-B391-7F3D14EB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9725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Говорова Марина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229386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8">
            <a:extLst xmlns:a="http://schemas.openxmlformats.org/drawingml/2006/main">
              <a:ext uri="{FF2B5EF4-FFF2-40B4-BE49-F238E27FC236}">
                <a16:creationId xmlns:a16="http://schemas.microsoft.com/office/drawing/2014/main" id="{97FC107F-D062-449E-8700-EDC71829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Предметная область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1098488B-80B8-4C01-B072-0C738F31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28B8379A-D00D-4876-97E8-B9E50F2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Агентство «Ньютон»</a:t>
            </a:r>
          </a:p>
        </p:txBody>
      </p:sp>
      <p:sp>
        <p:nvSpPr>
          <p:cNvPr id="4" name="diagram-11">
            <a:extLst xmlns:a="http://schemas.openxmlformats.org/drawingml/2006/main">
              <a:ext uri="{FF2B5EF4-FFF2-40B4-BE49-F238E27FC236}">
                <a16:creationId xmlns:a16="http://schemas.microsoft.com/office/drawing/2014/main" id="{3EE68466-57C3-4E62-9E14-FD705EB4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3434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E315DE5A-A7EB-4B42-9843-C0C5D686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Наружная реклама</a:t>
            </a:r>
          </a:p>
        </p:txBody>
      </p:sp>
      <p:sp>
        <p:nvSpPr>
          <p:cNvPr id="6" name="text-13">
            <a:extLst xmlns:a="http://schemas.openxmlformats.org/drawingml/2006/main">
              <a:ext uri="{FF2B5EF4-FFF2-40B4-BE49-F238E27FC236}">
                <a16:creationId xmlns:a16="http://schemas.microsoft.com/office/drawing/2014/main" id="{BA0190B7-8AA8-4CDB-8BD7-9B6E6F2C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8481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Штендеры и вывески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Информационные стенды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Баннерная печать</a:t>
            </a:r>
          </a:p>
        </p:txBody>
      </p:sp>
      <p:sp>
        <p:nvSpPr>
          <p:cNvPr id="7" name="diagram-14">
            <a:extLst xmlns:a="http://schemas.openxmlformats.org/drawingml/2006/main">
              <a:ext uri="{FF2B5EF4-FFF2-40B4-BE49-F238E27FC236}">
                <a16:creationId xmlns:a16="http://schemas.microsoft.com/office/drawing/2014/main" id="{55A0B08D-57A3-4534-820E-4229225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33625"/>
            <a:ext cx="43434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113ABA1F-FA07-46FE-943F-BD7EE182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032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Полиграфия</a:t>
            </a:r>
          </a:p>
        </p:txBody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81C44C79-060F-495D-A107-4EAA5505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38481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Визитки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Буклеты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0" name="diagram-17">
            <a:extLst xmlns:a="http://schemas.openxmlformats.org/drawingml/2006/main">
              <a:ext uri="{FF2B5EF4-FFF2-40B4-BE49-F238E27FC236}">
                <a16:creationId xmlns:a16="http://schemas.microsoft.com/office/drawing/2014/main" id="{A533E205-0857-4D0B-9009-D289CDF0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43434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98A19665-F7AE-4C1F-9383-1D17C21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0032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Размещение и монтаж</a:t>
            </a:r>
          </a:p>
        </p:txBody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7BD66E7D-B3D9-42B3-BDD8-D23B6A44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76600"/>
            <a:ext cx="38481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Установка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наружной рекламы</a:t>
            </a:r>
          </a:p>
        </p:txBody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9B61A9F8-21BF-4EA3-951B-5C3AFC3F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A7E"/>
                </a:solidFill>
                <a:latin typeface="Arial"/>
                <a:ea typeface="Arial"/>
                <a:cs typeface="Arial"/>
              </a:rPr>
              <a:t>Схема работы</a:t>
            </a:r>
          </a:p>
        </p:txBody>
      </p:sp>
      <p:sp>
        <p:nvSpPr>
          <p:cNvPr id="14" name="diagram-21">
            <a:extLst xmlns:a="http://schemas.openxmlformats.org/drawingml/2006/main">
              <a:ext uri="{FF2B5EF4-FFF2-40B4-BE49-F238E27FC236}">
                <a16:creationId xmlns:a16="http://schemas.microsoft.com/office/drawing/2014/main" id="{3774697C-5B82-45AA-8439-18B5BB52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2400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Встреча</a:t>
            </a:r>
          </a:p>
        </p:txBody>
      </p:sp>
      <p:sp>
        <p:nvSpPr>
          <p:cNvPr id="15" name="diagram-22">
            <a:extLst xmlns:a="http://schemas.openxmlformats.org/drawingml/2006/main">
              <a:ext uri="{FF2B5EF4-FFF2-40B4-BE49-F238E27FC236}">
                <a16:creationId xmlns:a16="http://schemas.microsoft.com/office/drawing/2014/main" id="{14909D57-54C2-487B-AFB9-D8ABA15B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15025"/>
            <a:ext cx="2400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Макет</a:t>
            </a:r>
          </a:p>
        </p:txBody>
      </p:sp>
      <p:sp>
        <p:nvSpPr>
          <p:cNvPr id="16" name="diagram-23">
            <a:extLst xmlns:a="http://schemas.openxmlformats.org/drawingml/2006/main">
              <a:ext uri="{FF2B5EF4-FFF2-40B4-BE49-F238E27FC236}">
                <a16:creationId xmlns:a16="http://schemas.microsoft.com/office/drawing/2014/main" id="{D6678D65-7995-4174-B91D-6A7622E7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15025"/>
            <a:ext cx="2400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Согласование</a:t>
            </a:r>
          </a:p>
        </p:txBody>
      </p:sp>
      <p:sp>
        <p:nvSpPr>
          <p:cNvPr id="17" name="diagram-24">
            <a:extLst xmlns:a="http://schemas.openxmlformats.org/drawingml/2006/main">
              <a:ext uri="{FF2B5EF4-FFF2-40B4-BE49-F238E27FC236}">
                <a16:creationId xmlns:a16="http://schemas.microsoft.com/office/drawing/2014/main" id="{21FD3393-ACB6-475B-8521-1B1E057C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915025"/>
            <a:ext cx="2400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Изготовление</a:t>
            </a:r>
          </a:p>
        </p:txBody>
      </p:sp>
      <p:sp>
        <p:nvSpPr>
          <p:cNvPr id="18" name="diagram-25">
            <a:extLst xmlns:a="http://schemas.openxmlformats.org/drawingml/2006/main">
              <a:ext uri="{FF2B5EF4-FFF2-40B4-BE49-F238E27FC236}">
                <a16:creationId xmlns:a16="http://schemas.microsoft.com/office/drawing/2014/main" id="{4B3FEFB6-AFE6-43DB-9270-BF69F1AE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915025"/>
            <a:ext cx="2400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Монтаж</a:t>
            </a:r>
          </a:p>
        </p:txBody>
      </p: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86100" y="6286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53125" y="6286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20150" y="6286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687175" y="6286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sp>
        <p:nvSpPr>
          <p:cNvPr id="23" name="diagram-26">
            <a:extLst xmlns:a="http://schemas.openxmlformats.org/drawingml/2006/main">
              <a:ext uri="{FF2B5EF4-FFF2-40B4-BE49-F238E27FC236}">
                <a16:creationId xmlns:a16="http://schemas.microsoft.com/office/drawing/2014/main" id="{5242CDA3-E73E-49AE-9F5E-9E54748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62800"/>
            <a:ext cx="138684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152C52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Предоплата не менее 30%</a:t>
            </a:r>
          </a:p>
        </p:txBody>
      </p:sp>
    </p:spTree>
    <p:extLst>
      <p:ext uri="{BB962C8B-B14F-4D97-AF65-F5344CB8AC3E}">
        <p14:creationId xmlns:p14="http://schemas.microsoft.com/office/powerpoint/2010/main" val="1185650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7">
            <a:extLst xmlns:a="http://schemas.openxmlformats.org/drawingml/2006/main">
              <a:ext uri="{FF2B5EF4-FFF2-40B4-BE49-F238E27FC236}">
                <a16:creationId xmlns:a16="http://schemas.microsoft.com/office/drawing/2014/main" id="{BC973E15-B98F-476B-B9CD-7175D03B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Цель и задачи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698A249D-54FC-43B6-AFF0-0C5E123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6CC5BEAC-16BD-443D-8383-2DBC432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E03B82F2-52BA-405F-A220-2D7A1AF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381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Проектирование функциональной модели</a:t>
            </a:r>
          </a:p>
          <a:p xmlns:a="http://schemas.openxmlformats.org/drawingml/2006/main">
            <a:pPr algn="l">
              <a:defRPr sz="300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АИС «Ньютон» в нотации DFD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667B61D0-31AC-4C77-BDA5-79D6E580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Задачи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203FF37F-EECC-4B0E-8FD6-39F0513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7557E61F-56DA-43FC-B748-F263C250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29125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Определить назначение ИС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894E17AC-91DE-4428-B9FB-D4B1559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text-35">
            <a:extLst xmlns:a="http://schemas.openxmlformats.org/drawingml/2006/main">
              <a:ext uri="{FF2B5EF4-FFF2-40B4-BE49-F238E27FC236}">
                <a16:creationId xmlns:a16="http://schemas.microsoft.com/office/drawing/2014/main" id="{F86F8F81-4EC8-4278-8C84-6D5EC8CD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05450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Выделить основной процесс</a:t>
            </a:r>
          </a:p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и внешние сущности</a:t>
            </a:r>
          </a:p>
        </p:txBody>
      </p:sp>
      <p:sp>
        <p:nvSpPr>
          <p:cNvPr id="10" name="text-36">
            <a:extLst xmlns:a="http://schemas.openxmlformats.org/drawingml/2006/main">
              <a:ext uri="{FF2B5EF4-FFF2-40B4-BE49-F238E27FC236}">
                <a16:creationId xmlns:a16="http://schemas.microsoft.com/office/drawing/2014/main" id="{C74CFDA4-5D9C-40DE-8A83-27BD56C5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text-37">
            <a:extLst xmlns:a="http://schemas.openxmlformats.org/drawingml/2006/main">
              <a:ext uri="{FF2B5EF4-FFF2-40B4-BE49-F238E27FC236}">
                <a16:creationId xmlns:a16="http://schemas.microsoft.com/office/drawing/2014/main" id="{9E7E607B-4594-4787-85FD-5318D785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81775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Определить потоки данных</a:t>
            </a:r>
          </a:p>
        </p:txBody>
      </p:sp>
      <p:sp>
        <p:nvSpPr>
          <p:cNvPr id="12" name="text-38">
            <a:extLst xmlns:a="http://schemas.openxmlformats.org/drawingml/2006/main">
              <a:ext uri="{FF2B5EF4-FFF2-40B4-BE49-F238E27FC236}">
                <a16:creationId xmlns:a16="http://schemas.microsoft.com/office/drawing/2014/main" id="{2A04C108-4447-4CF1-B733-9DADA644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text-39">
            <a:extLst xmlns:a="http://schemas.openxmlformats.org/drawingml/2006/main">
              <a:ext uri="{FF2B5EF4-FFF2-40B4-BE49-F238E27FC236}">
                <a16:creationId xmlns:a16="http://schemas.microsoft.com/office/drawing/2014/main" id="{6118405D-A3E9-4400-BC60-90CD70D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29125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Построить контекстную</a:t>
            </a:r>
          </a:p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диаграмму A-0</a:t>
            </a:r>
          </a:p>
        </p:txBody>
      </p:sp>
      <p:sp>
        <p:nvSpPr>
          <p:cNvPr id="14" name="text-40">
            <a:extLst xmlns:a="http://schemas.openxmlformats.org/drawingml/2006/main">
              <a:ext uri="{FF2B5EF4-FFF2-40B4-BE49-F238E27FC236}">
                <a16:creationId xmlns:a16="http://schemas.microsoft.com/office/drawing/2014/main" id="{5963E5F1-553D-4EA4-B79E-3064863A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text-41">
            <a:extLst xmlns:a="http://schemas.openxmlformats.org/drawingml/2006/main">
              <a:ext uri="{FF2B5EF4-FFF2-40B4-BE49-F238E27FC236}">
                <a16:creationId xmlns:a16="http://schemas.microsoft.com/office/drawing/2014/main" id="{B3B7FA25-0570-42CC-8A63-1A5D6FD9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05450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Построить детализированную</a:t>
            </a:r>
          </a:p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диаграмму A0</a:t>
            </a:r>
          </a:p>
        </p:txBody>
      </p:sp>
      <p:sp>
        <p:nvSpPr>
          <p:cNvPr id="16" name="text-42">
            <a:extLst xmlns:a="http://schemas.openxmlformats.org/drawingml/2006/main">
              <a:ext uri="{FF2B5EF4-FFF2-40B4-BE49-F238E27FC236}">
                <a16:creationId xmlns:a16="http://schemas.microsoft.com/office/drawing/2014/main" id="{9B97C31B-FEBD-4653-B521-F0F5B27B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817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text-43">
            <a:extLst xmlns:a="http://schemas.openxmlformats.org/drawingml/2006/main">
              <a:ext uri="{FF2B5EF4-FFF2-40B4-BE49-F238E27FC236}">
                <a16:creationId xmlns:a16="http://schemas.microsoft.com/office/drawing/2014/main" id="{B9747761-A122-451B-AC21-B96FAD2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581775"/>
            <a:ext cx="605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Детализировать процесс A2</a:t>
            </a:r>
          </a:p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«Разработать макет»</a:t>
            </a:r>
          </a:p>
        </p:txBody>
      </p:sp>
    </p:spTree>
    <p:extLst>
      <p:ext uri="{BB962C8B-B14F-4D97-AF65-F5344CB8AC3E}">
        <p14:creationId xmlns:p14="http://schemas.microsoft.com/office/powerpoint/2010/main" val="1513498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E737C1DF-EB44-4EF2-94A1-402582C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Методы и средства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EDA545A6-5FEE-4E63-A1E0-1EF329D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328AE444-C173-4B24-8AEF-D3A5680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381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Методология: DFD (Data Flow Diagram)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8388287E-A6B7-4223-A64A-11D3D92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381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Средство моделирования: Miro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B70CE08F-BB05-42C9-A236-5F36ECAC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DFD описывает систему через четыре элемента</a:t>
            </a:r>
          </a:p>
        </p:txBody>
      </p:sp>
      <p:sp>
        <p:nvSpPr>
          <p:cNvPr id="6" name="diagram-49">
            <a:extLst xmlns:a="http://schemas.openxmlformats.org/drawingml/2006/main">
              <a:ext uri="{FF2B5EF4-FFF2-40B4-BE49-F238E27FC236}">
                <a16:creationId xmlns:a16="http://schemas.microsoft.com/office/drawing/2014/main" id="{C213D9CD-9770-478B-A54D-50E9D7C0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762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Процесс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A832EAEA-42C3-455C-984C-97E47BAA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Процессы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BFE1C028-9301-470D-BDFC-6834FC2F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4762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05D0A875-971B-4370-AF00-E1D19DBE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81600"/>
            <a:ext cx="4762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24375" y="5205413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sp>
        <p:nvSpPr>
          <p:cNvPr id="11" name="text-53">
            <a:extLst xmlns:a="http://schemas.openxmlformats.org/drawingml/2006/main">
              <a:ext uri="{FF2B5EF4-FFF2-40B4-BE49-F238E27FC236}">
                <a16:creationId xmlns:a16="http://schemas.microsoft.com/office/drawing/2014/main" id="{76677F39-2936-421E-88C3-9F948E7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2007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Потоки данных</a:t>
            </a:r>
          </a:p>
        </p:txBody>
      </p:sp>
      <p:sp>
        <p:nvSpPr>
          <p:cNvPr id="12" name="DFD-data-store">
            <a:extLst xmlns:a="http://schemas.openxmlformats.org/drawingml/2006/main">
              <a:ext uri="{FF2B5EF4-FFF2-40B4-BE49-F238E27FC236}">
                <a16:creationId xmlns:a16="http://schemas.microsoft.com/office/drawing/2014/main" id="{02BFFB27-122A-4353-A405-B2B9232C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62500"/>
            <a:ext cx="2781300" cy="1000125"/>
          </a:xfrm>
          <a:custGeom xmlns:a="http://schemas.openxmlformats.org/drawingml/2006/main">
            <a:pathLst>
              <a:path w="2781300" h="1000125">
                <a:moveTo>
                  <a:pt x="2781300" y="0"/>
                </a:moveTo>
                <a:lnTo>
                  <a:pt x="0" y="0"/>
                </a:lnTo>
                <a:lnTo>
                  <a:pt x="0" y="1000125"/>
                </a:lnTo>
                <a:lnTo>
                  <a:pt x="2781300" y="1000125"/>
                </a:lnTo>
                <a:moveTo>
                  <a:pt x="514350" y="0"/>
                </a:moveTo>
                <a:lnTo>
                  <a:pt x="51435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AA5"/>
            </a:solidFill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7B608B75-6E02-4291-B59B-D45A9892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105400"/>
            <a:ext cx="409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14" name="text-55">
            <a:extLst xmlns:a="http://schemas.openxmlformats.org/drawingml/2006/main">
              <a:ext uri="{FF2B5EF4-FFF2-40B4-BE49-F238E27FC236}">
                <a16:creationId xmlns:a16="http://schemas.microsoft.com/office/drawing/2014/main" id="{A770787F-E4E6-4DB4-A16E-92ACD242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5" name="text-56">
            <a:extLst xmlns:a="http://schemas.openxmlformats.org/drawingml/2006/main">
              <a:ext uri="{FF2B5EF4-FFF2-40B4-BE49-F238E27FC236}">
                <a16:creationId xmlns:a16="http://schemas.microsoft.com/office/drawing/2014/main" id="{69208BE4-52D7-4E90-B56A-D78DA6C3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20077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Накопители</a:t>
            </a:r>
          </a:p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данных</a:t>
            </a:r>
          </a:p>
        </p:txBody>
      </p:sp>
      <p:sp>
        <p:nvSpPr>
          <p:cNvPr id="16" name="diagram-57">
            <a:extLst xmlns:a="http://schemas.openxmlformats.org/drawingml/2006/main">
              <a:ext uri="{FF2B5EF4-FFF2-40B4-BE49-F238E27FC236}">
                <a16:creationId xmlns:a16="http://schemas.microsoft.com/office/drawing/2014/main" id="{FBB74A9C-9D17-40B7-997D-8FD6CEB5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762500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E1  Сущность</a:t>
            </a:r>
          </a:p>
        </p:txBody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0B75C342-DD68-4437-9423-60DD71DA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00775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Внешние</a:t>
            </a:r>
          </a:p>
          <a:p xmlns:a="http://schemas.openxmlformats.org/drawingml/2006/main">
            <a:pPr algn="ctr">
              <a:defRPr sz="22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сущности</a:t>
            </a:r>
          </a:p>
        </p:txBody>
      </p:sp>
    </p:spTree>
    <p:extLst>
      <p:ext uri="{BB962C8B-B14F-4D97-AF65-F5344CB8AC3E}">
        <p14:creationId xmlns:p14="http://schemas.microsoft.com/office/powerpoint/2010/main" val="258634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9">
            <a:extLst xmlns:a="http://schemas.openxmlformats.org/drawingml/2006/main">
              <a:ext uri="{FF2B5EF4-FFF2-40B4-BE49-F238E27FC236}">
                <a16:creationId xmlns:a16="http://schemas.microsoft.com/office/drawing/2014/main" id="{3AC085B8-C65C-40D1-A7FE-202C1EE9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Контекстная диаграмма A-0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8D3CE3C3-6A85-4ECA-859C-6FEFAE0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f6ef8866a4c4f"/>
          <a:stretch xmlns:a="http://schemas.openxmlformats.org/drawingml/2006/main"/>
        </p:blipFill>
        <p:spPr>
          <a:xfrm xmlns:a="http://schemas.openxmlformats.org/drawingml/2006/main">
            <a:off x="401663" y="1381125"/>
            <a:ext cx="9207449" cy="6572250"/>
          </a:xfrm>
          <a:prstGeom xmlns:a="http://schemas.openxmlformats.org/drawingml/2006/main" prst="rect">
            <a:avLst/>
          </a:prstGeom>
        </p:spPr>
      </p:pic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302B8DB1-5A47-4786-A113-D975D60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0"/>
            <a:ext cx="445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Организовать</a:t>
            </a:r>
          </a:p>
          <a:p xmlns:a="http://schemas.openxmlformats.org/drawingml/2006/main">
            <a:pPr algn="l">
              <a:defRPr sz="23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выполнение заказов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58027B8C-FCCB-47A3-9215-BCF3CBF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5267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Потоки внешних сущностей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A80AA18E-0D54-46AB-BD34-EF66F67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E1. Клиент</a:t>
            </a:r>
          </a:p>
        </p:txBody>
      </p:sp>
      <p:sp>
        <p:nvSpPr>
          <p:cNvPr id="7" name="text-64">
            <a:extLst xmlns:a="http://schemas.openxmlformats.org/drawingml/2006/main">
              <a:ext uri="{FF2B5EF4-FFF2-40B4-BE49-F238E27FC236}">
                <a16:creationId xmlns:a16="http://schemas.microsoft.com/office/drawing/2014/main" id="{B2A2435E-4604-48C5-98E5-BCEFAD0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Вход: макет, готовность, акт приёма</a:t>
            </a:r>
          </a:p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Выход: требования, оплата, возражения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665AB715-3A67-41C9-8A75-E72C11E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6712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E2. Макетчик</a:t>
            </a:r>
          </a:p>
        </p:txBody>
      </p:sp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B372FBF5-1C30-4DCB-A59F-CF7768A2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48125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Вход: требования по макету</a:t>
            </a:r>
          </a:p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Выход: макет</a:t>
            </a:r>
          </a:p>
        </p:txBody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7C2FAFE3-A717-4D49-9EC5-C5B7793D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E3. Мастер</a:t>
            </a:r>
          </a:p>
        </p:txBody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FD5010DD-72F6-4028-A00D-2D2E707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Вход: макет, информация о монтаже</a:t>
            </a:r>
          </a:p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Выход: готовая реклама</a:t>
            </a:r>
          </a:p>
        </p:txBody>
      </p:sp>
      <p:sp>
        <p:nvSpPr>
          <p:cNvPr id="12" name="text-69">
            <a:extLst xmlns:a="http://schemas.openxmlformats.org/drawingml/2006/main">
              <a:ext uri="{FF2B5EF4-FFF2-40B4-BE49-F238E27FC236}">
                <a16:creationId xmlns:a16="http://schemas.microsoft.com/office/drawing/2014/main" id="{ACB66956-4E6B-4787-83B1-AADC931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6737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E4. Поставщик</a:t>
            </a:r>
          </a:p>
        </p:txBody>
      </p:sp>
      <p:sp>
        <p:nvSpPr>
          <p:cNvPr id="13" name="text-70">
            <a:extLst xmlns:a="http://schemas.openxmlformats.org/drawingml/2006/main">
              <a:ext uri="{FF2B5EF4-FFF2-40B4-BE49-F238E27FC236}">
                <a16:creationId xmlns:a16="http://schemas.microsoft.com/office/drawing/2014/main" id="{BE6DA7D4-0C0B-47D1-864A-0756C298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48375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Вход: заявка на материалы</a:t>
            </a:r>
          </a:p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Выход: данные по материалам</a:t>
            </a:r>
          </a:p>
        </p:txBody>
      </p:sp>
      <p:sp>
        <p:nvSpPr>
          <p:cNvPr id="14" name="text-71">
            <a:extLst xmlns:a="http://schemas.openxmlformats.org/drawingml/2006/main">
              <a:ext uri="{FF2B5EF4-FFF2-40B4-BE49-F238E27FC236}">
                <a16:creationId xmlns:a16="http://schemas.microsoft.com/office/drawing/2014/main" id="{84BB5360-819F-489E-8E02-495FF42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675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E5. Директор</a:t>
            </a:r>
          </a:p>
        </p:txBody>
      </p:sp>
      <p:sp>
        <p:nvSpPr>
          <p:cNvPr id="15" name="text-72">
            <a:extLst xmlns:a="http://schemas.openxmlformats.org/drawingml/2006/main">
              <a:ext uri="{FF2B5EF4-FFF2-40B4-BE49-F238E27FC236}">
                <a16:creationId xmlns:a16="http://schemas.microsoft.com/office/drawing/2014/main" id="{2921CCC6-550B-41C5-9EF4-37E370D9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Вход: отчёт</a:t>
            </a:r>
          </a:p>
          <a:p xmlns:a="http://schemas.openxmlformats.org/drawingml/2006/main">
            <a:pPr algn="l">
              <a:defRPr sz="1725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Выход: распоряжения</a:t>
            </a:r>
          </a:p>
        </p:txBody>
      </p:sp>
    </p:spTree>
    <p:extLst>
      <p:ext uri="{BB962C8B-B14F-4D97-AF65-F5344CB8AC3E}">
        <p14:creationId xmlns:p14="http://schemas.microsoft.com/office/powerpoint/2010/main" val="1953540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3">
            <a:extLst xmlns:a="http://schemas.openxmlformats.org/drawingml/2006/main">
              <a:ext uri="{FF2B5EF4-FFF2-40B4-BE49-F238E27FC236}">
                <a16:creationId xmlns:a16="http://schemas.microsoft.com/office/drawing/2014/main" id="{A18AA0F3-68DA-4B09-986E-FB18DA1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Детализированная диаграмма A0</a:t>
            </a:r>
          </a:p>
        </p:txBody>
      </p:sp>
      <p:sp>
        <p:nvSpPr>
          <p:cNvPr id="2" name="text-74">
            <a:extLst xmlns:a="http://schemas.openxmlformats.org/drawingml/2006/main">
              <a:ext uri="{FF2B5EF4-FFF2-40B4-BE49-F238E27FC236}">
                <a16:creationId xmlns:a16="http://schemas.microsoft.com/office/drawing/2014/main" id="{74D1EC0E-42E3-4E59-AD8B-98927625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cd4339b764387"/>
          <a:stretch xmlns:a="http://schemas.openxmlformats.org/drawingml/2006/main"/>
        </p:blipFill>
        <p:spPr>
          <a:xfrm xmlns:a="http://schemas.openxmlformats.org/drawingml/2006/main">
            <a:off x="329686" y="1181100"/>
            <a:ext cx="10208653" cy="7124700"/>
          </a:xfrm>
          <a:prstGeom xmlns:a="http://schemas.openxmlformats.org/drawingml/2006/main" prst="rect">
            <a:avLst/>
          </a:prstGeom>
        </p:spPr>
      </p:pic>
      <p:sp>
        <p:nvSpPr>
          <p:cNvPr id="4" name="text-75">
            <a:extLst xmlns:a="http://schemas.openxmlformats.org/drawingml/2006/main">
              <a:ext uri="{FF2B5EF4-FFF2-40B4-BE49-F238E27FC236}">
                <a16:creationId xmlns:a16="http://schemas.microsoft.com/office/drawing/2014/main" id="{56184369-95CD-4638-8E53-5D294A66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95425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Процессы</a:t>
            </a:r>
          </a:p>
        </p:txBody>
      </p:sp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2A9E8A27-76E3-42B3-B3C5-F9322FF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47875"/>
            <a:ext cx="3762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A1. Обработать заказ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DB65FB72-E78F-4CB5-A98D-1562F8B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24125"/>
            <a:ext cx="3762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A2. Разработать макет</a:t>
            </a:r>
          </a:p>
        </p:txBody>
      </p:sp>
      <p:sp>
        <p:nvSpPr>
          <p:cNvPr id="7" name="text-78">
            <a:extLst xmlns:a="http://schemas.openxmlformats.org/drawingml/2006/main">
              <a:ext uri="{FF2B5EF4-FFF2-40B4-BE49-F238E27FC236}">
                <a16:creationId xmlns:a16="http://schemas.microsoft.com/office/drawing/2014/main" id="{B6B03535-AC87-492E-BD5E-6F4A3EB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A3. Обеспечить</a:t>
            </a:r>
          </a:p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изготовление</a:t>
            </a:r>
          </a:p>
        </p:txBody>
      </p:sp>
      <p:sp>
        <p:nvSpPr>
          <p:cNvPr id="8" name="text-79">
            <a:extLst xmlns:a="http://schemas.openxmlformats.org/drawingml/2006/main">
              <a:ext uri="{FF2B5EF4-FFF2-40B4-BE49-F238E27FC236}">
                <a16:creationId xmlns:a16="http://schemas.microsoft.com/office/drawing/2014/main" id="{D0FAF6B9-D8E3-4FE0-A5D4-D8C22AB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957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A4. Обеспечить закупки</a:t>
            </a:r>
          </a:p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материалов</a:t>
            </a:r>
          </a:p>
        </p:txBody>
      </p:sp>
      <p:sp>
        <p:nvSpPr>
          <p:cNvPr id="9" name="text-80">
            <a:extLst xmlns:a="http://schemas.openxmlformats.org/drawingml/2006/main">
              <a:ext uri="{FF2B5EF4-FFF2-40B4-BE49-F238E27FC236}">
                <a16:creationId xmlns:a16="http://schemas.microsoft.com/office/drawing/2014/main" id="{18C00DE1-6C4D-487A-AEA1-DFAE1E4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91025"/>
            <a:ext cx="3762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A5. Отгрузить клиенту</a:t>
            </a:r>
          </a:p>
        </p:txBody>
      </p:sp>
      <p:sp>
        <p:nvSpPr>
          <p:cNvPr id="10" name="text-81">
            <a:extLst xmlns:a="http://schemas.openxmlformats.org/drawingml/2006/main">
              <a:ext uri="{FF2B5EF4-FFF2-40B4-BE49-F238E27FC236}">
                <a16:creationId xmlns:a16="http://schemas.microsoft.com/office/drawing/2014/main" id="{5E8FA1BF-4341-40A6-AEF3-E25B9023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672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A6. Мониторить</a:t>
            </a:r>
          </a:p>
          <a:p xmlns:a="http://schemas.openxmlformats.org/drawingml/2006/main">
            <a:pPr algn="l">
              <a:defRPr sz="187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выполнение</a:t>
            </a:r>
          </a:p>
        </p:txBody>
      </p:sp>
      <p:sp>
        <p:nvSpPr>
          <p:cNvPr id="11" name="text-82">
            <a:extLst xmlns:a="http://schemas.openxmlformats.org/drawingml/2006/main">
              <a:ext uri="{FF2B5EF4-FFF2-40B4-BE49-F238E27FC236}">
                <a16:creationId xmlns:a16="http://schemas.microsoft.com/office/drawing/2014/main" id="{D2BAB27D-7795-4C90-9C4C-6F66177E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19800"/>
            <a:ext cx="3762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Накопители</a:t>
            </a:r>
          </a:p>
        </p:txBody>
      </p:sp>
      <p:sp>
        <p:nvSpPr>
          <p:cNvPr id="12" name="text-83">
            <a:extLst xmlns:a="http://schemas.openxmlformats.org/drawingml/2006/main">
              <a:ext uri="{FF2B5EF4-FFF2-40B4-BE49-F238E27FC236}">
                <a16:creationId xmlns:a16="http://schemas.microsoft.com/office/drawing/2014/main" id="{AFDA8DD1-10B6-46A7-9440-EFF2653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D1. Заказы</a:t>
            </a:r>
          </a:p>
        </p:txBody>
      </p:sp>
      <p:sp>
        <p:nvSpPr>
          <p:cNvPr id="13" name="text-84">
            <a:extLst xmlns:a="http://schemas.openxmlformats.org/drawingml/2006/main">
              <a:ext uri="{FF2B5EF4-FFF2-40B4-BE49-F238E27FC236}">
                <a16:creationId xmlns:a16="http://schemas.microsoft.com/office/drawing/2014/main" id="{6FEFEE2A-4413-44CA-8AFD-E535D57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29425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D2. Договоры</a:t>
            </a:r>
          </a:p>
        </p:txBody>
      </p:sp>
      <p:sp>
        <p:nvSpPr>
          <p:cNvPr id="14" name="text-85">
            <a:extLst xmlns:a="http://schemas.openxmlformats.org/drawingml/2006/main">
              <a:ext uri="{FF2B5EF4-FFF2-40B4-BE49-F238E27FC236}">
                <a16:creationId xmlns:a16="http://schemas.microsoft.com/office/drawing/2014/main" id="{F1ECC6A0-F345-4958-9BBD-F3A6231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124700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D3. Макеты</a:t>
            </a:r>
          </a:p>
        </p:txBody>
      </p:sp>
      <p:sp>
        <p:nvSpPr>
          <p:cNvPr id="15" name="text-86">
            <a:extLst xmlns:a="http://schemas.openxmlformats.org/drawingml/2006/main">
              <a:ext uri="{FF2B5EF4-FFF2-40B4-BE49-F238E27FC236}">
                <a16:creationId xmlns:a16="http://schemas.microsoft.com/office/drawing/2014/main" id="{9B151D4E-00D9-4EEB-A9F4-ECD6D8D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419975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D4. Материалы</a:t>
            </a:r>
          </a:p>
        </p:txBody>
      </p:sp>
      <p:sp>
        <p:nvSpPr>
          <p:cNvPr id="16" name="text-87">
            <a:extLst xmlns:a="http://schemas.openxmlformats.org/drawingml/2006/main">
              <a:ext uri="{FF2B5EF4-FFF2-40B4-BE49-F238E27FC236}">
                <a16:creationId xmlns:a16="http://schemas.microsoft.com/office/drawing/2014/main" id="{413546CB-7A4F-4D53-88DB-BA75527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715250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D5. Склад (готовая реклама)</a:t>
            </a:r>
          </a:p>
        </p:txBody>
      </p:sp>
    </p:spTree>
    <p:extLst>
      <p:ext uri="{BB962C8B-B14F-4D97-AF65-F5344CB8AC3E}">
        <p14:creationId xmlns:p14="http://schemas.microsoft.com/office/powerpoint/2010/main" val="111507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88">
            <a:extLst xmlns:a="http://schemas.openxmlformats.org/drawingml/2006/main">
              <a:ext uri="{FF2B5EF4-FFF2-40B4-BE49-F238E27FC236}">
                <a16:creationId xmlns:a16="http://schemas.microsoft.com/office/drawing/2014/main" id="{766B5DEB-CB15-4885-9085-9F8CE1C0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Детализация A2 «Разработать макет»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2D24D327-2039-4FC6-8FC8-FF5D75F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15aa694d64f95"/>
          <a:stretch xmlns:a="http://schemas.openxmlformats.org/drawingml/2006/main"/>
        </p:blipFill>
        <p:spPr>
          <a:xfrm xmlns:a="http://schemas.openxmlformats.org/drawingml/2006/main">
            <a:off x="438150" y="1465620"/>
            <a:ext cx="5934075" cy="6774736"/>
          </a:xfrm>
          <a:prstGeom xmlns:a="http://schemas.openxmlformats.org/drawingml/2006/main" prst="rect">
            <a:avLst/>
          </a:prstGeom>
        </p:spPr>
      </p:pic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464DEE69-CCAE-48FB-8AB0-5D3B172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811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Основная последовательность</a:t>
            </a:r>
          </a:p>
        </p:txBody>
      </p:sp>
      <p:sp>
        <p:nvSpPr>
          <p:cNvPr id="5" name="diagram-91">
            <a:extLst xmlns:a="http://schemas.openxmlformats.org/drawingml/2006/main">
              <a:ext uri="{FF2B5EF4-FFF2-40B4-BE49-F238E27FC236}">
                <a16:creationId xmlns:a16="http://schemas.microsoft.com/office/drawing/2014/main" id="{B8100CBE-F6DB-4FBB-9EBF-6DE3CCAA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D1. Заказы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Исходные требования</a:t>
            </a:r>
          </a:p>
        </p:txBody>
      </p:sp>
      <p:sp>
        <p:nvSpPr>
          <p:cNvPr id="6" name="diagram-92">
            <a:extLst xmlns:a="http://schemas.openxmlformats.org/drawingml/2006/main">
              <a:ext uri="{FF2B5EF4-FFF2-40B4-BE49-F238E27FC236}">
                <a16:creationId xmlns:a16="http://schemas.microsoft.com/office/drawing/2014/main" id="{8C299E00-DE78-48A8-84EB-18A5C39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7182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A2.1. Обработка требований по заказу</a:t>
            </a:r>
          </a:p>
        </p:txBody>
      </p:sp>
      <p:sp>
        <p:nvSpPr>
          <p:cNvPr id="7" name="diagram-93">
            <a:extLst xmlns:a="http://schemas.openxmlformats.org/drawingml/2006/main">
              <a:ext uri="{FF2B5EF4-FFF2-40B4-BE49-F238E27FC236}">
                <a16:creationId xmlns:a16="http://schemas.microsoft.com/office/drawing/2014/main" id="{293EF658-A463-478A-8AA5-F5CAA90F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0527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A2.2. Выполнить предварительное макетирование</a:t>
            </a:r>
          </a:p>
        </p:txBody>
      </p:sp>
      <p:sp>
        <p:nvSpPr>
          <p:cNvPr id="8" name="diagram-94">
            <a:extLst xmlns:a="http://schemas.openxmlformats.org/drawingml/2006/main">
              <a:ext uri="{FF2B5EF4-FFF2-40B4-BE49-F238E27FC236}">
                <a16:creationId xmlns:a16="http://schemas.microsoft.com/office/drawing/2014/main" id="{E6190A3D-8F3B-426E-89A4-4F2327D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3872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A2.3. Согласовать с клиентом</a:t>
            </a:r>
          </a:p>
        </p:txBody>
      </p:sp>
      <p:sp>
        <p:nvSpPr>
          <p:cNvPr id="9" name="diagram-95">
            <a:extLst xmlns:a="http://schemas.openxmlformats.org/drawingml/2006/main">
              <a:ext uri="{FF2B5EF4-FFF2-40B4-BE49-F238E27FC236}">
                <a16:creationId xmlns:a16="http://schemas.microsoft.com/office/drawing/2014/main" id="{662542A7-A9BE-4138-97FE-3C0A580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7217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A2.4. Утвердить</a:t>
            </a:r>
          </a:p>
        </p:txBody>
      </p:sp>
      <p:sp>
        <p:nvSpPr>
          <p:cNvPr id="10" name="diagram-96">
            <a:extLst xmlns:a="http://schemas.openxmlformats.org/drawingml/2006/main">
              <a:ext uri="{FF2B5EF4-FFF2-40B4-BE49-F238E27FC236}">
                <a16:creationId xmlns:a16="http://schemas.microsoft.com/office/drawing/2014/main" id="{BD82C5BF-563F-4DA9-8FCB-516359A8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905625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AA5"/>
          </a:solidFill>
          <a:ln xmlns:a="http://schemas.openxmlformats.org/drawingml/2006/main" w="19050">
            <a:solidFill>
              <a:srgbClr val="315AA5"/>
            </a:solidFill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D3. Макеты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Согласованный макет</a:t>
            </a:r>
          </a:p>
        </p:txBody>
      </p: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725150" y="29813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725150" y="39147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725150" y="48482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725150" y="57816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725150" y="67151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AA5"/>
            </a:solidFill>
            <a:tailEnd type="triangle" w="med" len="med"/>
          </a:ln>
        </p:spPr>
      </p:cxn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4084E39A-1475-4B47-97D4-F9945BC4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810500"/>
            <a:ext cx="695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A2.1 ↔ Макетчик ↔ A2.2</a:t>
            </a:r>
          </a:p>
        </p:txBody>
      </p:sp>
      <p:sp>
        <p:nvSpPr>
          <p:cNvPr id="17" name="text-98">
            <a:extLst xmlns:a="http://schemas.openxmlformats.org/drawingml/2006/main">
              <a:ext uri="{FF2B5EF4-FFF2-40B4-BE49-F238E27FC236}">
                <a16:creationId xmlns:a16="http://schemas.microsoft.com/office/drawing/2014/main" id="{F90C5426-06EA-43CF-9CC1-E31C695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134350"/>
            <a:ext cx="695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A2.1 ↔ Клиент → A2.3</a:t>
            </a:r>
          </a:p>
        </p:txBody>
      </p:sp>
    </p:spTree>
    <p:extLst>
      <p:ext uri="{BB962C8B-B14F-4D97-AF65-F5344CB8AC3E}">
        <p14:creationId xmlns:p14="http://schemas.microsoft.com/office/powerpoint/2010/main" val="1233148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EE1B2FA3-7FFC-453C-99E8-0662CA75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BEBEA5BA-DEC5-4D41-B1E8-601C02E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3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A6A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A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78F43BFC-EE3F-4F0C-A1D7-B569BAB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3811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Спроектирована функциональная модель</a:t>
            </a:r>
          </a:p>
          <a:p xmlns:a="http://schemas.openxmlformats.org/drawingml/2006/main">
            <a:pPr algn="l">
              <a:defRPr sz="3225" b="1">
                <a:solidFill>
                  <a:srgbClr val="315A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AA5"/>
                </a:solidFill>
                <a:latin typeface="Arial"/>
                <a:ea typeface="Arial"/>
                <a:cs typeface="Arial"/>
              </a:rPr>
              <a:t>АИС «Ньютон» в нотации DFD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847A280E-D0C0-4079-A358-22AABA37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381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8"/>
                </a:solidFill>
                <a:latin typeface="Arial"/>
                <a:ea typeface="Arial"/>
                <a:cs typeface="Arial"/>
              </a:rPr>
              <a:t>Построены три уровня модели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FAB33257-0D06-4F09-875B-D9FC22F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3811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52400" algn="l">
              <a:spcAft>
                <a:spcPts val="1800"/>
              </a:spcAft>
              <a:buChar char="•"/>
              <a:defRPr sz="2400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t>Контекстная диаграмма A-0</a:t>
            </a:r>
          </a:p>
          <a:p xmlns:a="http://schemas.openxmlformats.org/drawingml/2006/main">
            <a:pPr marL="279400" indent="-152400" algn="l">
              <a:spcAft>
                <a:spcPts val="1800"/>
              </a:spcAft>
              <a:buChar char="•"/>
              <a:defRPr sz="2400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t>Детализированная диаграмма A0</a:t>
            </a:r>
          </a:p>
          <a:p xmlns:a="http://schemas.openxmlformats.org/drawingml/2006/main">
            <a:pPr marL="279400" indent="-152400" algn="l">
              <a:spcAft>
                <a:spcPts val="1800"/>
              </a:spcAft>
              <a:buChar char="•"/>
              <a:defRPr sz="2400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t>Детализация процесса A2 «Разработать макет»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E9E2EE28-5CA4-4C0D-9E6A-415EBAEA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0"/>
            <a:ext cx="1381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Модель соответствует предметной области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56AD6447-5E04-45C8-ACC1-ACE9F93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19975"/>
            <a:ext cx="1381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Может быть использована как основа</a:t>
            </a:r>
          </a:p>
          <a:p xmlns:a="http://schemas.openxmlformats.org/drawingml/2006/main">
            <a:pPr algn="l">
              <a:defRPr sz="2325" b="0">
                <a:solidFill>
                  <a:srgbClr val="172B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48"/>
                </a:solidFill>
                <a:latin typeface="Arial"/>
                <a:ea typeface="Arial"/>
                <a:cs typeface="Arial"/>
              </a:rPr>
              <a:t>для дальнейшего проектирования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31124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2C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AC722C6C-5A72-40D2-9BBD-04DFB25B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371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92793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2026-10-01T20:22:14.4170000Z</dcterms:created>
  <dcterms:modified xsi:type="dcterms:W3CDTF">2026-10-01T20:22:14.4170000Z</dcterms:modified>
</coreProperties>
</file>